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91" r:id="rId2"/>
    <p:sldId id="290" r:id="rId3"/>
    <p:sldId id="258" r:id="rId4"/>
    <p:sldId id="284" r:id="rId5"/>
    <p:sldId id="260" r:id="rId6"/>
    <p:sldId id="261" r:id="rId7"/>
    <p:sldId id="266" r:id="rId8"/>
    <p:sldId id="292" r:id="rId9"/>
    <p:sldId id="287" r:id="rId10"/>
    <p:sldId id="297" r:id="rId11"/>
    <p:sldId id="265" r:id="rId12"/>
    <p:sldId id="298" r:id="rId13"/>
    <p:sldId id="299" r:id="rId14"/>
    <p:sldId id="296" r:id="rId15"/>
    <p:sldId id="267" r:id="rId16"/>
    <p:sldId id="268" r:id="rId17"/>
    <p:sldId id="288" r:id="rId18"/>
    <p:sldId id="293" r:id="rId19"/>
    <p:sldId id="271" r:id="rId20"/>
    <p:sldId id="300" r:id="rId21"/>
    <p:sldId id="301" r:id="rId22"/>
    <p:sldId id="274" r:id="rId23"/>
    <p:sldId id="302" r:id="rId24"/>
    <p:sldId id="264" r:id="rId25"/>
    <p:sldId id="269" r:id="rId26"/>
    <p:sldId id="295" r:id="rId27"/>
    <p:sldId id="276" r:id="rId28"/>
    <p:sldId id="28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395"/>
  </p:normalViewPr>
  <p:slideViewPr>
    <p:cSldViewPr snapToGrid="0" snapToObjects="1">
      <p:cViewPr varScale="1">
        <p:scale>
          <a:sx n="124" d="100"/>
          <a:sy n="124" d="100"/>
        </p:scale>
        <p:origin x="20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7B6B0-B458-427D-B051-66A040955368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5FF73-CB4A-4B17-B81D-6A4C6173F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589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86E6D-C730-D4C3-9F99-4F6CA2441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DC677-ABD5-7A36-4A46-A8DB18488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308E8-F6ED-533B-6AC4-0499CC608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132FB-0AAA-C75B-DD9A-19D48F887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5FF73-CB4A-4B17-B81D-6A4C6173FB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53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5FF73-CB4A-4B17-B81D-6A4C6173FB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36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5FF73-CB4A-4B17-B81D-6A4C6173FB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72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5FF73-CB4A-4B17-B81D-6A4C6173FBE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68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DE1B9-91A1-0441-3661-552C70BEA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A0EB5-3791-455B-E9F0-32767F516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D98D6-2576-5AAB-790B-8E89C1026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C69C-845F-1040-A436-D5EB225077AE}" type="datetime3">
              <a:rPr lang="en-GB" smtClean="0"/>
              <a:t>28 December,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7415C-B42D-E5BF-D2F6-1A15F538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17064-2EEB-65A0-AF41-D8034DAE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61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495C8-3719-E94E-9237-B24B47D0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E0B89-B8F1-4A80-698B-D4B71D01E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4BC90-24A5-AA83-1B28-AC54F7BC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9DE15-5723-1848-B86F-6FAC193B33CA}" type="datetime3">
              <a:rPr lang="en-GB" smtClean="0"/>
              <a:t>28 December,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0A742-B4AC-5AFC-AFCF-60BA1C24D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3333A-3070-7021-040B-192C5350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7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B8338-E313-49D9-525A-A56BCCF85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FE2BC-3A73-9792-B1E1-EF1851D9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04618-2B10-4E5C-1A05-CD88E03F6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89C4-02DD-3845-9493-EC0390D7B2FE}" type="datetime3">
              <a:rPr lang="en-GB" smtClean="0"/>
              <a:t>28 December,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7E504-21E0-E1E2-69E7-A2D3742C9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3F09F-1E1F-E16B-E115-3F83335D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75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AF763-F742-3ED5-16DB-71FA794CE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65F8E-4AB8-743F-6733-9A9E4615DB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A1203C-8C44-5ED1-8717-5DCBDCDAB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E62F7-C012-473C-6905-D1BD17CE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88D32-23B6-604E-B911-19DD8EA6097E}" type="datetime3">
              <a:rPr lang="en-GB" smtClean="0"/>
              <a:t>28 December,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27D86-2690-A061-6FEB-302A8B1FF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34CEC-251D-DE88-DFFE-4043D488B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0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C7175-E50F-AFC6-1EAD-31CA91F0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08170-1090-2B8C-5956-52596F752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24940-46BC-AB13-9D1C-DB86C777B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D3AE3D-B651-C0A9-83DA-508FF97AC2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A31DF-DB79-6DEA-5B65-9741E62D5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F5E99-7C68-741E-F468-1F8B566D5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6EB7-39CA-964A-8B49-6E4C8F5EA290}" type="datetime3">
              <a:rPr lang="en-GB" smtClean="0"/>
              <a:t>28 December,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39C0-2C6E-59EC-1EE9-528924A6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30643-4F04-387D-5E33-4F70E096D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92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FF72-7624-9FFB-5ECD-3CD791CEB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1FB0F-496D-F5EE-F7A9-53D00ED7F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4091-1CDF-5D42-8AA8-A5165C9C4EF5}" type="datetime3">
              <a:rPr lang="en-GB" smtClean="0"/>
              <a:t>28 December,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30888-0851-0298-A7F6-963D89BE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B18D1-AFB7-1F38-125F-EB6E8B7A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75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31B71-D6F2-A282-2C36-4027D5D46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EC65D-2892-E249-8071-17A21173F471}" type="datetime3">
              <a:rPr lang="en-GB" smtClean="0"/>
              <a:t>28 December,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53E81-5736-15F6-4F77-BC4C75A2E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FE331-18E6-1AEA-3BC9-6F5793B0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98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E93FB-AD43-0407-A840-72C1BDD7E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17BE-DCC0-C2C5-0397-287358CD7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4CD3F-CB11-2DFE-44A9-554EA477D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9CC88-4682-270B-8D1F-38DE05233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B2A4F-BA08-7F40-9430-1539BE6A6041}" type="datetime3">
              <a:rPr lang="en-GB" smtClean="0"/>
              <a:t>28 December,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AC73D-8433-2506-4D35-F9D1B8F71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9AE04-02DA-6DFA-7B31-BB4F16FEF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972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9E79-E393-8DCB-FA0A-A04EC26F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E056AC-0FF1-7D14-0A6C-A2A912060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E8E1B-313F-2AA8-88AB-E33AE2C88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7CC59-A41E-BC89-87BC-DB3DAF89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9B45-B41D-6F46-A244-8A8D65137F2F}" type="datetime3">
              <a:rPr lang="en-GB" smtClean="0"/>
              <a:t>28 December,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CBE48-0CE9-61E6-A6BA-E8F5CFAD0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B2843-0282-7E42-6921-EE522D483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739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084BE-F3F6-3E92-2F33-82DE467B0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ACE24-2ADB-98B0-B3DD-ADF191085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5F4E4-E99D-A151-4A07-19AA99249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7A68-E96E-D744-8266-3B7FF3A5FD1C}" type="datetime3">
              <a:rPr lang="en-GB" smtClean="0"/>
              <a:t>28 December,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C53D1-4589-0DA1-BD7A-6A59B2EBE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E2318-EFEA-126E-40E9-88E8BE07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0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644851-131B-F4D9-FC1D-BCF7E8605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F3BB1-F5CC-3C98-85DF-DB5ED9F22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73E92-C826-4C2B-A553-6C9260AD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51900-9039-4A46-B10E-236C1168A5D9}" type="datetime3">
              <a:rPr lang="en-GB" smtClean="0"/>
              <a:t>28 December,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94D9D-1EAF-27BF-B1C6-0DDAAEA1C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22434-6082-CC66-D119-AF11FAA9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D05227-DC47-8F5C-3B6F-B1267D41C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824A9-D53D-6AB1-A3D1-176C598A4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5BF0E-D787-7768-7B45-F0B496F6B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3087F-6292-6A47-88D9-01796346080B}" type="datetime3">
              <a:rPr lang="en-GB" smtClean="0"/>
              <a:t>28 December,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3EC33-7D64-FEBF-2769-8CC358100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F1D02-422B-620D-9C53-63814B66A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4B531-3086-46AA-98B5-838EFC325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4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D97A5-5877-238E-08FE-A76EC7854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45341-3176-17DD-7645-78193C2FE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1" y="-2551"/>
            <a:ext cx="12186640" cy="6860771"/>
          </a:xfrm>
        </p:spPr>
        <p:txBody>
          <a:bodyPr vert="horz" lIns="182880" tIns="45720" rIns="91440" bIns="45720" rtlCol="0" anchor="ctr">
            <a:noAutofit/>
          </a:bodyPr>
          <a:lstStyle/>
          <a:p>
            <a:r>
              <a:rPr lang="en-US" sz="4000" b="1" dirty="0">
                <a:latin typeface="Arial"/>
                <a:cs typeface="Arial"/>
              </a:rPr>
              <a:t> </a:t>
            </a:r>
            <a:r>
              <a:rPr lang="en-US" sz="4400" b="1" dirty="0">
                <a:latin typeface="Arial"/>
                <a:cs typeface="Arial"/>
              </a:rPr>
              <a:t>REAL-TIME DIRECTIONAL ANTENNA ALIGNMENT USING  REINFORCEMENT LEARNING AND RSSI FEEDBACK</a:t>
            </a:r>
            <a:br>
              <a:rPr lang="en-US" sz="4400" b="1" dirty="0">
                <a:latin typeface="Arial"/>
                <a:cs typeface="Arial"/>
              </a:rPr>
            </a:br>
            <a:br>
              <a:rPr lang="en-US" sz="4400" b="1" dirty="0">
                <a:latin typeface="Arial"/>
              </a:rPr>
            </a:br>
            <a:r>
              <a:rPr lang="en-US" sz="2200" dirty="0">
                <a:latin typeface="Arial"/>
                <a:cs typeface="Arial"/>
              </a:rPr>
              <a:t>Atul Tiwari           (THA079BEI006)</a:t>
            </a:r>
            <a:br>
              <a:rPr lang="en-US" sz="2200" dirty="0">
                <a:latin typeface="Arial"/>
              </a:rPr>
            </a:br>
            <a:r>
              <a:rPr lang="en-US" sz="2200" dirty="0">
                <a:latin typeface="Arial"/>
                <a:cs typeface="Arial"/>
              </a:rPr>
              <a:t>Bibek Joshi         (THA079BEI007)</a:t>
            </a:r>
            <a:br>
              <a:rPr lang="en-US" sz="2200" dirty="0">
                <a:latin typeface="Arial"/>
              </a:rPr>
            </a:br>
            <a:r>
              <a:rPr lang="en-US" sz="2200" dirty="0" err="1">
                <a:latin typeface="Arial"/>
                <a:cs typeface="Arial"/>
              </a:rPr>
              <a:t>Inisha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dirty="0" err="1">
                <a:latin typeface="Arial"/>
                <a:cs typeface="Arial"/>
              </a:rPr>
              <a:t>Maharjan</a:t>
            </a:r>
            <a:r>
              <a:rPr lang="en-US" sz="2200" dirty="0">
                <a:latin typeface="Arial"/>
                <a:cs typeface="Arial"/>
              </a:rPr>
              <a:t>  (THA079BEI012)</a:t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 err="1">
                <a:latin typeface="Arial"/>
                <a:cs typeface="Arial"/>
              </a:rPr>
              <a:t>Suprim</a:t>
            </a:r>
            <a:r>
              <a:rPr lang="en-US" sz="2200" dirty="0">
                <a:latin typeface="Arial"/>
                <a:cs typeface="Arial"/>
              </a:rPr>
              <a:t> Koirala    (THA079BEI043)</a:t>
            </a:r>
            <a:br>
              <a:rPr lang="en-US" dirty="0"/>
            </a:br>
            <a:br>
              <a:rPr lang="en-US" sz="2200" b="1" dirty="0">
                <a:latin typeface="Arial"/>
              </a:rPr>
            </a:br>
            <a:r>
              <a:rPr lang="en-US" sz="2200" dirty="0">
                <a:latin typeface="Arial"/>
                <a:cs typeface="Arial"/>
              </a:rPr>
              <a:t>Supervisor:</a:t>
            </a:r>
            <a:br>
              <a:rPr lang="en-US" sz="2200" b="1" dirty="0">
                <a:latin typeface="Arial"/>
              </a:rPr>
            </a:br>
            <a:r>
              <a:rPr lang="en-US" sz="2200" b="1" dirty="0" err="1">
                <a:latin typeface="Arial"/>
                <a:cs typeface="Arial"/>
              </a:rPr>
              <a:t>Er</a:t>
            </a:r>
            <a:r>
              <a:rPr lang="en-US" sz="2200" b="1" dirty="0">
                <a:latin typeface="Arial"/>
                <a:cs typeface="Arial"/>
              </a:rPr>
              <a:t>. Saroj Shakya</a:t>
            </a:r>
            <a:br>
              <a:rPr lang="en-US" sz="2200" b="1" dirty="0">
                <a:latin typeface="Arial"/>
              </a:rPr>
            </a:br>
            <a:br>
              <a:rPr lang="en-US" sz="2200" b="1" dirty="0">
                <a:latin typeface="Arial"/>
              </a:rPr>
            </a:br>
            <a:r>
              <a:rPr lang="en-US" sz="2000" dirty="0">
                <a:latin typeface="Arial"/>
                <a:cs typeface="Arial"/>
              </a:rPr>
              <a:t>Department of Electronics and Computer Engineering</a:t>
            </a:r>
            <a:br>
              <a:rPr lang="en-US" sz="2000" dirty="0">
                <a:latin typeface="Arial"/>
              </a:rPr>
            </a:br>
            <a:r>
              <a:rPr lang="en-US" sz="2000" dirty="0">
                <a:latin typeface="Arial"/>
                <a:cs typeface="Arial"/>
              </a:rPr>
              <a:t>Institute of Engineering, Thapathali Campus</a:t>
            </a:r>
            <a:br>
              <a:rPr lang="en-US" sz="2000" dirty="0">
                <a:latin typeface="Arial"/>
              </a:rPr>
            </a:br>
            <a:br>
              <a:rPr lang="en-US" sz="2000" dirty="0">
                <a:latin typeface="Arial"/>
              </a:rPr>
            </a:br>
            <a:r>
              <a:rPr lang="en-US" sz="2000" dirty="0">
                <a:latin typeface="Arial"/>
                <a:cs typeface="Arial"/>
              </a:rPr>
              <a:t> December 28, 2025</a:t>
            </a:r>
            <a:endParaRPr lang="en-US" sz="4400" b="1" u="sng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3792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C72BA-6821-71FB-F152-91F820E7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DBB6-5911-1956-EACF-7EF463D1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49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latin typeface="Arial  "/>
              </a:rPr>
              <a:t>Presentation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1581-A9C3-59DD-D3CA-009A4AD4F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1430"/>
            <a:ext cx="10778412" cy="5257145"/>
          </a:xfrm>
        </p:spPr>
        <p:txBody>
          <a:bodyPr vert="horz" lIns="91440" tIns="274320" rIns="91440" bIns="91440" numCol="2" spcCol="274320" rtlCol="0" anchor="t">
            <a:no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  "/>
                <a:cs typeface="Arial"/>
              </a:rPr>
              <a:t>Motivation</a:t>
            </a:r>
            <a:endParaRPr lang="en-US" dirty="0">
              <a:latin typeface="Arial  "/>
            </a:endParaRPr>
          </a:p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  "/>
                <a:cs typeface="Arial"/>
              </a:rPr>
              <a:t>Introduction</a:t>
            </a:r>
          </a:p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  "/>
                <a:cs typeface="Arial"/>
              </a:rPr>
              <a:t>Objectives</a:t>
            </a:r>
          </a:p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  "/>
                <a:cs typeface="Arial"/>
              </a:rPr>
              <a:t>Scope of Project</a:t>
            </a:r>
          </a:p>
          <a:p>
            <a:pPr marL="571500" indent="-571500">
              <a:lnSpc>
                <a:spcPct val="150000"/>
              </a:lnSpc>
              <a:buFont typeface="Calibri Light" panose="020F0302020204030204"/>
              <a:buAutoNum type="arabicPeriod"/>
            </a:pPr>
            <a:r>
              <a:rPr lang="en-US" dirty="0">
                <a:latin typeface="Arial  "/>
                <a:cs typeface="Arial"/>
              </a:rPr>
              <a:t>Methodology</a:t>
            </a:r>
          </a:p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  "/>
                <a:cs typeface="Arial"/>
              </a:rPr>
              <a:t>Expected Outcomes</a:t>
            </a:r>
          </a:p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  "/>
                <a:cs typeface="Arial"/>
              </a:rPr>
              <a:t>Project Timeline</a:t>
            </a:r>
          </a:p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  "/>
                <a:cs typeface="Arial"/>
              </a:rPr>
              <a:t>Budget Estimation</a:t>
            </a:r>
          </a:p>
          <a:p>
            <a:pPr marL="571500" indent="-571500">
              <a:lnSpc>
                <a:spcPct val="150000"/>
              </a:lnSpc>
              <a:buAutoNum type="arabicPeriod"/>
            </a:pPr>
            <a:r>
              <a:rPr lang="en-US" dirty="0">
                <a:latin typeface="Arial  "/>
                <a:cs typeface="Arial"/>
              </a:rPr>
              <a:t>Project Applications</a:t>
            </a:r>
          </a:p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  "/>
                <a:cs typeface="Arial"/>
              </a:rPr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34E36-4512-9CA5-562B-52EEF1105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990A7-7680-2548-8D5F-7A5FA90BC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ECBFD-B47F-D743-9DDD-C68C7FE9C489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29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EF2A7-77C3-7510-620D-37065BC6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/>
                <a:cs typeface="Arial"/>
              </a:rPr>
              <a:t>Motivation</a:t>
            </a:r>
            <a:endParaRPr lang="en-US" sz="4000" dirty="0">
              <a:latin typeface="Arial"/>
              <a:cs typeface="Arial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F67EE3-E527-664C-9A3F-CE530FF99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3"/>
          <a:stretch/>
        </p:blipFill>
        <p:spPr>
          <a:xfrm>
            <a:off x="1933851" y="1690688"/>
            <a:ext cx="8324298" cy="401442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E5E22-2516-F4C7-BD7D-1CC5F25A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3F3C1-709C-9043-AD5A-4E694F04E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D80F-87B1-114B-AA97-0255CE15409D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3F238A-8E75-EC4E-B2E8-563E1CA8E77B}"/>
              </a:ext>
            </a:extLst>
          </p:cNvPr>
          <p:cNvSpPr txBox="1"/>
          <p:nvPr/>
        </p:nvSpPr>
        <p:spPr>
          <a:xfrm>
            <a:off x="3761196" y="6017796"/>
            <a:ext cx="4849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Figure: Image Generated by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NanoBanana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(Gemini)</a:t>
            </a:r>
          </a:p>
        </p:txBody>
      </p:sp>
    </p:spTree>
    <p:extLst>
      <p:ext uri="{BB962C8B-B14F-4D97-AF65-F5344CB8AC3E}">
        <p14:creationId xmlns:p14="http://schemas.microsoft.com/office/powerpoint/2010/main" val="2687995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DF6AA-9A11-ED50-09E4-67CD076E4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  "/>
              </a:rPr>
              <a:t>Introduction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BA6CC-41BA-0391-44E3-2E0071939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/>
                <a:ea typeface="+mn-lt"/>
                <a:cs typeface="+mn-lt"/>
              </a:rPr>
              <a:t>Directional antennas focus energy to improve SNR &amp; range</a:t>
            </a:r>
            <a:endParaRPr lang="en-US" dirty="0">
              <a:latin typeface="Arial"/>
              <a:ea typeface="+mn-lt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/>
                <a:ea typeface="+mn-lt"/>
                <a:cs typeface="+mn-lt"/>
              </a:rPr>
              <a:t>Alignment crucial for reliable communication</a:t>
            </a:r>
            <a:endParaRPr lang="en-US" dirty="0">
              <a:latin typeface="Arial"/>
              <a:ea typeface="+mn-lt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/>
                <a:ea typeface="+mn-lt"/>
                <a:cs typeface="+mn-lt"/>
              </a:rPr>
              <a:t>Manual alignment is time-consuming and error-prone</a:t>
            </a:r>
            <a:endParaRPr lang="en-US" dirty="0">
              <a:latin typeface="Arial"/>
              <a:ea typeface="+mn-lt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/>
                <a:ea typeface="+mn-lt"/>
                <a:cs typeface="+mn-lt"/>
              </a:rPr>
              <a:t>Existing automated methods require costly RF hardware</a:t>
            </a:r>
            <a:endParaRPr lang="en-US" dirty="0">
              <a:latin typeface="Arial"/>
              <a:ea typeface="+mn-lt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/>
                <a:ea typeface="+mn-lt"/>
                <a:cs typeface="+mn-lt"/>
              </a:rPr>
              <a:t>Low-cost, RSSI-based autonomous alignment is needed</a:t>
            </a:r>
            <a:endParaRPr lang="en-US" dirty="0">
              <a:latin typeface="Arial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58228-BC8D-62DF-6C19-6D09CBEF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724FF-5E68-E84B-B023-E8A75EA49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AF64E-E70F-934D-914E-EBCDC6680B5E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802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9812-75FF-D278-401C-DF2B9BEE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>
                <a:latin typeface="Arial"/>
                <a:cs typeface="Arial"/>
              </a:rPr>
              <a:t>Objectives</a:t>
            </a:r>
            <a:endParaRPr lang="en-US" sz="400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C5F92-9198-BF51-10D3-2FDBACB63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5775"/>
            <a:ext cx="10515600" cy="33512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1600"/>
              </a:spcAft>
            </a:pPr>
            <a:r>
              <a:rPr lang="en-US" dirty="0">
                <a:latin typeface="Arial"/>
                <a:cs typeface="Arial"/>
              </a:rPr>
              <a:t>To design and implement a low-cost embedded system capable of measuring RSSI in real time and mechanically steering a directional antenna.</a:t>
            </a:r>
            <a:endParaRPr lang="en-US" dirty="0">
              <a:ea typeface="Calibri"/>
              <a:cs typeface="Calibri"/>
            </a:endParaRPr>
          </a:p>
          <a:p>
            <a:pPr marL="457200" indent="-457200">
              <a:lnSpc>
                <a:spcPct val="100000"/>
              </a:lnSpc>
              <a:spcAft>
                <a:spcPts val="1600"/>
              </a:spcAft>
            </a:pPr>
            <a:r>
              <a:rPr lang="en-US" dirty="0">
                <a:latin typeface="Arial"/>
                <a:cs typeface="Arial"/>
              </a:rPr>
              <a:t>To develop and evaluate lightweight reinforcement learning based alignment strategies, comparing their performance against baseline methods.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1222C-7A1C-6A12-B277-1BAAB364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9460C-3C80-4B4E-BF9A-4503D58D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281F-D957-7A49-B807-D6E727E1F3B6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814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EC3C7-0E4C-BE72-EFD7-D1F5428D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/>
                <a:cs typeface="Arial"/>
              </a:rPr>
              <a:t>Scope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B025D-1D1D-5F4C-E047-C049AE8F7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812587" cy="435133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100" b="1" dirty="0">
                <a:latin typeface="Arial"/>
                <a:cs typeface="Arial"/>
              </a:rPr>
              <a:t>Capabilities</a:t>
            </a:r>
          </a:p>
          <a:p>
            <a:pPr marL="274320">
              <a:lnSpc>
                <a:spcPct val="150000"/>
              </a:lnSpc>
            </a:pPr>
            <a:r>
              <a:rPr lang="en-US" sz="2100" dirty="0">
                <a:latin typeface="Arial"/>
                <a:cs typeface="Arial"/>
              </a:rPr>
              <a:t>Implement stepper-controlled antenna using microcontroller</a:t>
            </a:r>
          </a:p>
          <a:p>
            <a:pPr marL="274320">
              <a:lnSpc>
                <a:spcPct val="150000"/>
              </a:lnSpc>
            </a:pPr>
            <a:r>
              <a:rPr lang="en-US" sz="2100" dirty="0">
                <a:latin typeface="Arial"/>
                <a:cs typeface="Arial"/>
              </a:rPr>
              <a:t>Develop baseline RSSI scanning and hill-climb algorithms </a:t>
            </a:r>
          </a:p>
          <a:p>
            <a:pPr marL="274320">
              <a:lnSpc>
                <a:spcPct val="150000"/>
              </a:lnSpc>
            </a:pPr>
            <a:r>
              <a:rPr lang="en-US" sz="2100" dirty="0">
                <a:latin typeface="Arial"/>
                <a:cs typeface="Arial"/>
              </a:rPr>
              <a:t>Integrate lightweight reinforcement learning for antenna control</a:t>
            </a:r>
          </a:p>
          <a:p>
            <a:pPr marL="274320">
              <a:lnSpc>
                <a:spcPct val="150000"/>
              </a:lnSpc>
            </a:pPr>
            <a:r>
              <a:rPr lang="en-US" sz="2100" dirty="0">
                <a:latin typeface="Arial"/>
                <a:cs typeface="Arial"/>
              </a:rPr>
              <a:t>Evaluate performance in static and dynamic environments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Arial"/>
                <a:cs typeface="Arial"/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5CC4A2-E0A4-0ABE-8DCA-8CA872F7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C0EE4-6990-C04E-BCFB-1F1D7811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E039-129D-DD4E-AFDF-CDC3E031F36B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8761D3B-DFB6-B948-BF90-7D9195837413}"/>
              </a:ext>
            </a:extLst>
          </p:cNvPr>
          <p:cNvSpPr txBox="1">
            <a:spLocks/>
          </p:cNvSpPr>
          <p:nvPr/>
        </p:nvSpPr>
        <p:spPr>
          <a:xfrm>
            <a:off x="6164494" y="1800529"/>
            <a:ext cx="518930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6000" b="1" dirty="0">
                <a:latin typeface="Arial"/>
                <a:cs typeface="Arial"/>
              </a:rPr>
              <a:t>Limitations</a:t>
            </a:r>
          </a:p>
          <a:p>
            <a:pPr>
              <a:lnSpc>
                <a:spcPct val="150000"/>
              </a:lnSpc>
            </a:pPr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Advanced multi-antenna systems like MIMO, phased arrays</a:t>
            </a:r>
          </a:p>
          <a:p>
            <a:pPr>
              <a:lnSpc>
                <a:spcPct val="150000"/>
              </a:lnSpc>
            </a:pPr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High-frequency mm-Wave and beamforming techniques</a:t>
            </a:r>
          </a:p>
          <a:p>
            <a:pPr>
              <a:lnSpc>
                <a:spcPct val="150000"/>
              </a:lnSpc>
            </a:pPr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Transmitter-side adaptation or coordinated alignment</a:t>
            </a:r>
          </a:p>
          <a:p>
            <a:pPr>
              <a:lnSpc>
                <a:spcPct val="150000"/>
              </a:lnSpc>
            </a:pPr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Full mobility and high-speed movement scenarios</a:t>
            </a:r>
          </a:p>
          <a:p>
            <a:pPr>
              <a:lnSpc>
                <a:spcPct val="150000"/>
              </a:lnSpc>
            </a:pPr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RSSI variability limits experimental repeatability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929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3713-F74B-3266-F9E9-F5E4DF731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4767" y="2665842"/>
            <a:ext cx="6428648" cy="132556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Arial"/>
                <a:cs typeface="Arial"/>
              </a:rPr>
              <a:t>Methodology (1)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/>
                <a:cs typeface="Arial"/>
              </a:rPr>
              <a:t>System Block Diagram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3078F33-2492-6415-F9F8-FAD815C0D779}"/>
              </a:ext>
            </a:extLst>
          </p:cNvPr>
          <p:cNvCxnSpPr>
            <a:cxnSpLocks/>
          </p:cNvCxnSpPr>
          <p:nvPr/>
        </p:nvCxnSpPr>
        <p:spPr>
          <a:xfrm flipH="1">
            <a:off x="5894832" y="2240280"/>
            <a:ext cx="377952" cy="6035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37375ED-2CC0-6710-D812-4E759682E423}"/>
              </a:ext>
            </a:extLst>
          </p:cNvPr>
          <p:cNvCxnSpPr/>
          <p:nvPr/>
        </p:nvCxnSpPr>
        <p:spPr>
          <a:xfrm flipH="1" flipV="1">
            <a:off x="5175504" y="1655064"/>
            <a:ext cx="920496" cy="237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E0A1C1-2499-8CB4-1FAA-3FE147EFC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375" y="741680"/>
            <a:ext cx="8830371" cy="537464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8BAFC-3614-2861-6709-BE59E04D8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AEA533-CF5A-7840-89AE-59FD1A24E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1CDC-F7B3-5245-9220-0063DD89FEED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802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725FD-33A7-6B84-836E-7484CD19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Arial"/>
                <a:cs typeface="Arial"/>
              </a:rPr>
              <a:t>Methodology (2)</a:t>
            </a:r>
            <a:br>
              <a:rPr lang="en-US" sz="4000" b="1" dirty="0">
                <a:latin typeface="Arial"/>
                <a:cs typeface="Arial"/>
              </a:rPr>
            </a:br>
            <a:r>
              <a:rPr lang="en-US" sz="4000" b="1" dirty="0">
                <a:latin typeface="Arial"/>
                <a:ea typeface="+mj-lt"/>
                <a:cs typeface="+mj-lt"/>
              </a:rPr>
              <a:t>Hardware Implementation</a:t>
            </a:r>
            <a:endParaRPr lang="en-US" sz="4000" b="1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460D0-05FB-C965-D39B-396C31D26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00"/>
            <a:ext cx="10515600" cy="43513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latin typeface="Arial"/>
                <a:ea typeface="+mn-lt"/>
                <a:cs typeface="+mn-lt"/>
              </a:rPr>
              <a:t>Antenna:</a:t>
            </a:r>
            <a:r>
              <a:rPr lang="en-US">
                <a:latin typeface="Arial"/>
                <a:ea typeface="+mn-lt"/>
                <a:cs typeface="+mn-lt"/>
              </a:rPr>
              <a:t> High-gain directional Panel PCB Type.</a:t>
            </a:r>
            <a:endParaRPr lang="en-US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>
                <a:latin typeface="Arial"/>
                <a:ea typeface="+mn-lt"/>
                <a:cs typeface="+mn-lt"/>
              </a:rPr>
              <a:t>Processor:</a:t>
            </a:r>
            <a:r>
              <a:rPr lang="en-US">
                <a:latin typeface="Arial"/>
                <a:ea typeface="+mn-lt"/>
                <a:cs typeface="+mn-lt"/>
              </a:rPr>
              <a:t> ESP32 or Arduino for logic execution.</a:t>
            </a:r>
            <a:endParaRPr lang="en-US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>
                <a:latin typeface="Arial"/>
                <a:ea typeface="+mn-lt"/>
                <a:cs typeface="+mn-lt"/>
              </a:rPr>
              <a:t>Actuator:</a:t>
            </a:r>
            <a:r>
              <a:rPr lang="en-US">
                <a:latin typeface="Arial"/>
                <a:ea typeface="+mn-lt"/>
                <a:cs typeface="+mn-lt"/>
              </a:rPr>
              <a:t> NEMA 17 Stepper Motor for precision.</a:t>
            </a:r>
            <a:endParaRPr lang="en-US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>
                <a:latin typeface="Arial"/>
                <a:ea typeface="+mn-lt"/>
                <a:cs typeface="+mn-lt"/>
              </a:rPr>
              <a:t>Driver:</a:t>
            </a:r>
            <a:r>
              <a:rPr lang="en-US">
                <a:latin typeface="Arial"/>
                <a:ea typeface="+mn-lt"/>
                <a:cs typeface="+mn-lt"/>
              </a:rPr>
              <a:t> A4988 driver for smooth motor control.</a:t>
            </a:r>
            <a:endParaRPr lang="en-US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>
                <a:latin typeface="Arial"/>
                <a:ea typeface="+mn-lt"/>
                <a:cs typeface="+mn-lt"/>
              </a:rPr>
              <a:t>Power:</a:t>
            </a:r>
            <a:r>
              <a:rPr lang="en-US">
                <a:latin typeface="Arial"/>
                <a:ea typeface="+mn-lt"/>
                <a:cs typeface="+mn-lt"/>
              </a:rPr>
              <a:t> External 12V supply for motor torque.</a:t>
            </a:r>
            <a:endParaRPr lang="en-US">
              <a:latin typeface="Arial"/>
              <a:cs typeface="Arial"/>
            </a:endParaRPr>
          </a:p>
          <a:p>
            <a:endParaRPr lang="en-US">
              <a:latin typeface="Arial"/>
              <a:ea typeface="Calibri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3FAB4-7C64-FE59-93BA-5E286333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B1A82-A1A9-5F42-B682-9565EDE07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3D49C-4FFE-3E43-AFDF-B6C633831E24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271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B2A4-8DCE-174E-C09E-D9F9EF5F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pt-BR" sz="4000" b="1" dirty="0" err="1">
                <a:latin typeface="Arial"/>
                <a:cs typeface="Arial"/>
              </a:rPr>
              <a:t>Methodology</a:t>
            </a:r>
            <a:r>
              <a:rPr lang="pt-BR" sz="4000" b="1" dirty="0">
                <a:latin typeface="Arial"/>
                <a:cs typeface="Arial"/>
              </a:rPr>
              <a:t> (3)</a:t>
            </a:r>
            <a:br>
              <a:rPr lang="pt-BR" sz="4000" b="1" dirty="0">
                <a:latin typeface="Arial"/>
                <a:cs typeface="Arial"/>
              </a:rPr>
            </a:br>
            <a:r>
              <a:rPr lang="pt-BR" sz="4000" b="1" dirty="0" err="1">
                <a:latin typeface="Arial"/>
                <a:cs typeface="Arial"/>
              </a:rPr>
              <a:t>Source</a:t>
            </a:r>
            <a:r>
              <a:rPr lang="pt-BR" sz="4000" b="1" dirty="0">
                <a:latin typeface="Arial"/>
                <a:cs typeface="Arial"/>
              </a:rPr>
              <a:t> </a:t>
            </a:r>
            <a:r>
              <a:rPr lang="pt-BR" sz="4000" b="1" dirty="0" err="1">
                <a:latin typeface="Arial"/>
                <a:cs typeface="Arial"/>
              </a:rPr>
              <a:t>and</a:t>
            </a:r>
            <a:r>
              <a:rPr lang="pt-BR" sz="4000" b="1" dirty="0">
                <a:latin typeface="Arial"/>
                <a:cs typeface="Arial"/>
              </a:rPr>
              <a:t> </a:t>
            </a:r>
            <a:r>
              <a:rPr lang="pt-BR" sz="4000" b="1" dirty="0" err="1">
                <a:latin typeface="Arial"/>
                <a:cs typeface="Arial"/>
              </a:rPr>
              <a:t>Receiver</a:t>
            </a:r>
            <a:r>
              <a:rPr lang="pt-BR" sz="4000" b="1" dirty="0">
                <a:latin typeface="Arial"/>
                <a:cs typeface="Arial"/>
              </a:rPr>
              <a:t> </a:t>
            </a:r>
            <a:r>
              <a:rPr lang="pt-BR" sz="4000" b="1" dirty="0" err="1">
                <a:latin typeface="Arial"/>
                <a:cs typeface="Arial"/>
              </a:rPr>
              <a:t>Configuration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C3262C-96FB-B2EA-DC72-B8F2CF8A11BF}"/>
              </a:ext>
            </a:extLst>
          </p:cNvPr>
          <p:cNvSpPr txBox="1"/>
          <p:nvPr/>
        </p:nvSpPr>
        <p:spPr>
          <a:xfrm>
            <a:off x="6629400" y="2364194"/>
            <a:ext cx="4514850" cy="34624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pt-BR" sz="2600" b="1" i="0" u="none" strike="noStrik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Receiver</a:t>
            </a:r>
            <a:r>
              <a:rPr lang="pt-BR" sz="2600" b="1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Node</a:t>
            </a:r>
            <a:r>
              <a:rPr lang="en-US" sz="2600" b="0" i="0" dirty="0">
                <a:latin typeface="Arial"/>
                <a:ea typeface="Arial"/>
                <a:cs typeface="Arial"/>
              </a:rPr>
              <a:t>​</a:t>
            </a:r>
            <a:endParaRPr lang="en-US" dirty="0">
              <a:ea typeface="Calibri"/>
              <a:cs typeface="Calibri"/>
            </a:endParaRPr>
          </a:p>
          <a:p>
            <a:pPr marL="800100" lvl="2" indent="-342900" algn="l" rtl="0">
              <a:lnSpc>
                <a:spcPct val="150000"/>
              </a:lnSpc>
              <a:buFont typeface="Arial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ESP32 microcontroller</a:t>
            </a:r>
            <a:r>
              <a:rPr lang="en-US" sz="2400" b="0" i="0" dirty="0">
                <a:latin typeface="Arial"/>
                <a:ea typeface="Arial"/>
                <a:cs typeface="Arial"/>
              </a:rPr>
              <a:t>​</a:t>
            </a:r>
          </a:p>
          <a:p>
            <a:pPr marL="800100" lvl="2" indent="-342900" algn="l" rtl="0">
              <a:lnSpc>
                <a:spcPct val="150000"/>
              </a:lnSpc>
              <a:buFont typeface="Arial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Directional antenna</a:t>
            </a:r>
            <a:r>
              <a:rPr lang="en-US" sz="2400" b="0" i="0" dirty="0">
                <a:latin typeface="Arial"/>
                <a:ea typeface="Arial"/>
                <a:cs typeface="Arial"/>
              </a:rPr>
              <a:t>​</a:t>
            </a:r>
          </a:p>
          <a:p>
            <a:pPr marL="800100" lvl="2" indent="-342900" algn="l" rtl="0">
              <a:lnSpc>
                <a:spcPct val="150000"/>
              </a:lnSpc>
              <a:buFont typeface="Arial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Stepper motor assembly</a:t>
            </a:r>
          </a:p>
          <a:p>
            <a:pPr marL="800100" lvl="2" indent="-34290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latin typeface="Arial"/>
                <a:cs typeface="Arial"/>
              </a:rPr>
              <a:t>Alignment Algorithm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pPr algn="ctr"/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B6BDA6-978B-7020-CB86-4DBFA76547E1}"/>
              </a:ext>
            </a:extLst>
          </p:cNvPr>
          <p:cNvSpPr txBox="1"/>
          <p:nvPr/>
        </p:nvSpPr>
        <p:spPr>
          <a:xfrm>
            <a:off x="914078" y="2400300"/>
            <a:ext cx="4514850" cy="29084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pt-BR" sz="2600" b="1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Transmitter</a:t>
            </a:r>
            <a:r>
              <a:rPr lang="pt-BR" sz="2600" b="1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Node</a:t>
            </a:r>
            <a:r>
              <a:rPr lang="en-US" sz="2600" b="0" i="0" dirty="0"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​</a:t>
            </a:r>
            <a:endParaRPr lang="en-US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marL="800100" lvl="2" indent="-342900" algn="l" rtl="0">
              <a:lnSpc>
                <a:spcPct val="150000"/>
              </a:lnSpc>
              <a:buFont typeface="Arial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ESP32 microcontroller</a:t>
            </a:r>
            <a:r>
              <a:rPr lang="en-US" sz="2400" b="0" i="0" dirty="0"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​</a:t>
            </a:r>
          </a:p>
          <a:p>
            <a:pPr marL="800100" lvl="2" indent="-34290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Omnidirectional antenna</a:t>
            </a:r>
            <a:r>
              <a:rPr lang="en-US" sz="2400" b="0" i="0" dirty="0"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​</a:t>
            </a:r>
          </a:p>
          <a:p>
            <a:pPr marL="800100" lvl="2" indent="-34290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Periodic Data Transfer</a:t>
            </a:r>
            <a:endParaRPr lang="en-US" sz="2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endParaRPr dirty="0"/>
          </a:p>
          <a:p>
            <a:pPr algn="ctr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EE578-1886-F762-87E2-A2172F5D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227AB1-3C5F-524B-A116-82DC4E160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32050-EECF-C647-B8C1-BD1CC0383274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108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9ED4D-462E-922E-6030-C2D957E6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Arial"/>
                <a:cs typeface="Arial"/>
              </a:rPr>
              <a:t>Methodology (4)</a:t>
            </a:r>
            <a:br>
              <a:rPr lang="en-US" sz="4000" b="1" dirty="0">
                <a:latin typeface="Arial"/>
                <a:cs typeface="Arial"/>
              </a:rPr>
            </a:br>
            <a:r>
              <a:rPr lang="en-US" sz="4000" b="1" dirty="0">
                <a:latin typeface="Arial"/>
                <a:ea typeface="Calibri Light" panose="020F0302020204030204"/>
                <a:cs typeface="Arial"/>
              </a:rPr>
              <a:t>Software Implementation</a:t>
            </a:r>
            <a:endParaRPr lang="en-US" dirty="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67766-746C-9BC9-92F7-FB6538D8D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5928"/>
            <a:ext cx="10515600" cy="3255963"/>
          </a:xfr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Arduino IDE with ESP32 Core</a:t>
            </a:r>
            <a:endParaRPr lang="en-US" dirty="0"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Embedded C/C++ Firmware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Lightweight Q-Learning Algorithm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Serial Monitor and Plotter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Python / MATLAB for Data Analysis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PyTorch</a:t>
            </a:r>
            <a:r>
              <a:rPr lang="en-US" sz="2400" dirty="0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 Library for RL Algorithm Implementation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EDA3F-0CEC-F578-CE72-73F4B1BB6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829F0-8095-2F42-A3E2-41754B05B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F0C2-ABB1-FC42-B428-7C40F8E01D7F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439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93BB-1140-E4DD-4027-9CED10B9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265630" y="2766218"/>
            <a:ext cx="6591303" cy="132556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Arial"/>
                <a:cs typeface="Arial"/>
              </a:rPr>
              <a:t>Methodology (5)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/>
                <a:cs typeface="Arial"/>
              </a:rPr>
              <a:t>Flow Diagram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B05B32DE-37D1-9C83-D30B-772EDB355116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207431" y="1541929"/>
            <a:ext cx="11617015" cy="472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/>
              <a:t>                              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84A041-85E1-8D86-DE3C-760C4F736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395" y="671195"/>
            <a:ext cx="9421495" cy="550672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613DD18-B675-330B-32FA-F7177AA38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050F1-D339-674F-AEC7-688036169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3B5D-4FB5-5446-8D8E-92D976EA682B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221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E052-1693-A641-BE0D-C8466A3D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Methodology (6)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Baseline Methods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AD869-69E9-C942-8D1D-7C2BD104A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3027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Fixed orientation (no adaptation)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Exhaustive angular scanning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RSSI-based hill-climbing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Comparison metric for RL performance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75257-0B9C-BC4F-95D5-F261B17BE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7A25C-4D30-384C-B40C-D86E2821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828DA-41F2-0748-8136-85126D8A4B83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15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A390-1FE8-5E49-B668-F837BBC8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Methodology (7)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Reinforcement Learning Overview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DE249-B5FE-2B4C-8A9C-6B5BE5BC5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7574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Model-free control paradigm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Learn from interaction &amp; rewards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Optimize antenna orientation over time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Tabular Q-Learning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Suitable for low-cost embedded systems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C6926-BABB-BE4B-833A-B6AE9179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0F89D-C76E-7F46-AE7B-9A417CBED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83F0F-A5C6-EF43-9CB9-AFF6A61D9FC9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328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3F730-5571-E41F-D674-992C22AEE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9714"/>
            <a:ext cx="10515600" cy="1682449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Arial"/>
                <a:cs typeface="Arial"/>
              </a:rPr>
              <a:t>Methodology (8)</a:t>
            </a:r>
            <a:br>
              <a:rPr lang="en-US" sz="4000" b="1" dirty="0">
                <a:latin typeface="Arial"/>
                <a:cs typeface="Arial"/>
              </a:rPr>
            </a:br>
            <a:r>
              <a:rPr lang="en-US" sz="4000" b="1" dirty="0">
                <a:latin typeface="Arial"/>
                <a:cs typeface="Arial"/>
              </a:rPr>
              <a:t>RL Model Design</a:t>
            </a:r>
            <a:br>
              <a:rPr lang="en-US" sz="4000" b="1" dirty="0">
                <a:latin typeface="Arial"/>
                <a:cs typeface="Arial"/>
              </a:rPr>
            </a:br>
            <a:endParaRPr lang="en-US" sz="4000" dirty="0">
              <a:latin typeface="Arial"/>
              <a:cs typeface="Arial"/>
            </a:endParaRPr>
          </a:p>
        </p:txBody>
      </p:sp>
      <p:pic>
        <p:nvPicPr>
          <p:cNvPr id="9" name="Content Placeholder 8" descr="A diagram of steps to a learning process&#10;&#10;AI-generated content may be incorrect.">
            <a:extLst>
              <a:ext uri="{FF2B5EF4-FFF2-40B4-BE49-F238E27FC236}">
                <a16:creationId xmlns:a16="http://schemas.microsoft.com/office/drawing/2014/main" id="{75F6EF8C-40C7-F27C-82CF-B28D06E253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1555" y="2062163"/>
            <a:ext cx="6657654" cy="4025281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6EB763-91D5-5860-7012-58B5D148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C988E2-22A6-9F47-A6AC-4916353E0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ECE5-BE17-E241-812A-46E21CAF5603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902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EE71C-6AFC-48FF-530F-BF3432FF3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534985" y="2361661"/>
            <a:ext cx="5986482" cy="2002896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Arial"/>
                <a:cs typeface="Arial"/>
              </a:rPr>
              <a:t>Methodology (9)</a:t>
            </a:r>
            <a:br>
              <a:rPr lang="en-US" sz="4000" b="1" dirty="0">
                <a:latin typeface="Arial"/>
                <a:cs typeface="Arial"/>
              </a:rPr>
            </a:br>
            <a:r>
              <a:rPr lang="en-US" sz="4000" b="1" dirty="0">
                <a:latin typeface="Arial"/>
                <a:ea typeface="+mj-lt"/>
                <a:cs typeface="+mj-lt"/>
              </a:rPr>
              <a:t>RL Experience Collection and State Preparation Pipeline</a:t>
            </a:r>
            <a:endParaRPr lang="en-US" sz="4000" b="1" dirty="0">
              <a:latin typeface="Arial"/>
              <a:cs typeface="Arial"/>
            </a:endParaRPr>
          </a:p>
        </p:txBody>
      </p:sp>
      <p:pic>
        <p:nvPicPr>
          <p:cNvPr id="10" name="Content Placeholder 9" descr="A black background with a black rectangle&#10;&#10;AI-generated content may be incorrect.">
            <a:extLst>
              <a:ext uri="{FF2B5EF4-FFF2-40B4-BE49-F238E27FC236}">
                <a16:creationId xmlns:a16="http://schemas.microsoft.com/office/drawing/2014/main" id="{020FEF16-A59B-439B-D79C-2947EF84E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4309" y="434541"/>
            <a:ext cx="3595521" cy="58571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55C9C-F34B-C103-3FD1-CB786454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24B01-8EFF-3745-A59F-6E7237BE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835F1-7A62-0148-9507-8166E32AB9A0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120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6961C-E09B-1B6A-4A8C-879A4AA5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Arial"/>
                <a:ea typeface="+mj-lt"/>
                <a:cs typeface="Arial"/>
              </a:rPr>
              <a:t>Methodology (10)</a:t>
            </a:r>
            <a:r>
              <a:rPr lang="en-US" sz="4000" b="1" dirty="0">
                <a:latin typeface="Arial"/>
                <a:ea typeface="+mj-lt"/>
                <a:cs typeface="+mj-lt"/>
              </a:rPr>
              <a:t> </a:t>
            </a:r>
            <a:br>
              <a:rPr lang="en-US" sz="4000" b="1" dirty="0">
                <a:latin typeface="Arial"/>
              </a:rPr>
            </a:br>
            <a:r>
              <a:rPr lang="en-US" sz="4000" b="1" dirty="0">
                <a:latin typeface="Arial"/>
                <a:ea typeface="+mj-lt"/>
                <a:cs typeface="Arial"/>
              </a:rPr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7162C-CF68-6B9D-9CF2-EA9F5F184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136" y="2332232"/>
            <a:ext cx="8408542" cy="3896337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Initialize antenna at a baseline position.</a:t>
            </a:r>
            <a:endParaRPr lang="en-US" dirty="0">
              <a:latin typeface="Arial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Scan environment to establish initial RSSI.</a:t>
            </a:r>
            <a:endParaRPr lang="en-US" dirty="0">
              <a:latin typeface="Arial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Agent selects action based on current state.</a:t>
            </a:r>
            <a:endParaRPr lang="en-US" dirty="0">
              <a:latin typeface="Arial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  <a:buFont typeface="Arial"/>
            </a:pPr>
            <a:r>
              <a:rPr lang="en-US" dirty="0">
                <a:latin typeface="Arial"/>
                <a:ea typeface="+mn-lt"/>
                <a:cs typeface="+mn-lt"/>
              </a:rPr>
              <a:t>Measure new RSSI and calculate reward.</a:t>
            </a:r>
            <a:endParaRPr lang="en-US" dirty="0">
              <a:latin typeface="Arial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  <a:buFont typeface="Arial"/>
            </a:pPr>
            <a:r>
              <a:rPr lang="en-US" dirty="0">
                <a:latin typeface="Arial"/>
                <a:ea typeface="+mn-lt"/>
                <a:cs typeface="+mn-lt"/>
              </a:rPr>
              <a:t>Update Q-table or Policy to improve accuracy.</a:t>
            </a:r>
            <a:endParaRPr lang="en-US" dirty="0">
              <a:latin typeface="Arial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  <a:buFont typeface="Arial"/>
            </a:pPr>
            <a:r>
              <a:rPr lang="en-US" dirty="0">
                <a:latin typeface="Arial"/>
                <a:ea typeface="+mn-lt"/>
                <a:cs typeface="+mn-lt"/>
              </a:rPr>
              <a:t>Repeat cycle for continuous real-time tracking.</a:t>
            </a:r>
            <a:endParaRPr lang="en-US" dirty="0">
              <a:latin typeface="Arial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646C3-815F-EECA-1AD2-8A1A55DAA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B5CD2-746C-FF42-98EB-226FB68FD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A47D-6212-1748-BB1B-C16BF6532672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861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C7A1F-9CF9-0473-CE1B-C81BFE4F8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Arial"/>
                <a:cs typeface="Arial"/>
              </a:rPr>
              <a:t>Methodology (11)</a:t>
            </a:r>
            <a:br>
              <a:rPr lang="en-US" sz="4000" b="1" dirty="0">
                <a:latin typeface="Arial"/>
                <a:cs typeface="Arial"/>
              </a:rPr>
            </a:br>
            <a:r>
              <a:rPr lang="en-US" sz="3600" b="1" dirty="0">
                <a:latin typeface="Arial"/>
                <a:ea typeface="+mj-lt"/>
                <a:cs typeface="+mj-lt"/>
              </a:rPr>
              <a:t>Reinforcement Learning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7830B-DD89-2940-F4AD-DB1594246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State Space:</a:t>
            </a:r>
            <a:endParaRPr lang="en-US" dirty="0"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Current RSSI level and signal trend.</a:t>
            </a:r>
            <a:endParaRPr lang="en-US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Current angular position of the antenna.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Thresholds classify RSSI increase/decrease/stable</a:t>
            </a:r>
            <a:endParaRPr lang="en-US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Action Space: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Rotate clockwise, counter-clockwise, or stay.</a:t>
            </a:r>
          </a:p>
          <a:p>
            <a:pPr lvl="1"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Step size trade-off: precision vs. speed</a:t>
            </a:r>
            <a:endParaRPr lang="en-US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Reward Function: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Positive reward for increased signal strength.</a:t>
            </a:r>
            <a:endParaRPr lang="en-US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Penalty for signal drops or unnecessary movement.</a:t>
            </a:r>
            <a:endParaRPr lang="en-US" dirty="0"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076C-9D95-25EF-55A7-A2226199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6373-DF3C-2247-9EEA-0FB735EA1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7B18A-C7F0-5A44-859F-641D67616797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319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989B2-4F39-CC05-F412-80E825E8A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Arial"/>
                <a:cs typeface="Arial"/>
              </a:rPr>
              <a:t>Methodology (12)</a:t>
            </a:r>
            <a:br>
              <a:rPr lang="en-US" sz="4000" b="1" dirty="0">
                <a:latin typeface="Arial"/>
                <a:cs typeface="Arial"/>
              </a:rPr>
            </a:br>
            <a:r>
              <a:rPr lang="en-US" sz="4000" b="1" dirty="0">
                <a:latin typeface="Arial"/>
                <a:cs typeface="Arial"/>
              </a:rPr>
              <a:t>Algorithm in Action</a:t>
            </a:r>
            <a:endParaRPr lang="en-US" sz="4000" b="1" dirty="0">
              <a:latin typeface="Arial"/>
              <a:ea typeface="Calibri Light" panose="020F0302020204030204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B6636-4C0F-0F05-94AC-2653A94B2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1542"/>
            <a:ext cx="10515600" cy="35267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/>
                <a:cs typeface="Arial"/>
              </a:rPr>
              <a:t>Tabular Q-learning used for model training</a:t>
            </a:r>
            <a:endParaRPr lang="en-US" dirty="0"/>
          </a:p>
          <a:p>
            <a:pPr>
              <a:lnSpc>
                <a:spcPct val="15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latin typeface="Arial"/>
                <a:cs typeface="Arial"/>
              </a:rPr>
              <a:t>Antenna movement generates learning experience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latin typeface="Arial"/>
                <a:cs typeface="Arial"/>
              </a:rPr>
              <a:t>Experience includes state, action, reward, next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latin typeface="Arial"/>
                <a:cs typeface="Arial"/>
              </a:rPr>
              <a:t>RSSI acts as primary reward signal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latin typeface="Arial"/>
                <a:cs typeface="Arial"/>
              </a:rPr>
              <a:t>Q-values updated after every action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31349E-9C90-85ED-022C-1C0156D49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1B2C4-9196-3A42-835C-EB927066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04AD8-AB73-8345-8E0C-40214648928D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94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E8B5C-C0D8-435E-47F2-E120B272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Arial"/>
                <a:cs typeface="Arial"/>
              </a:rPr>
              <a:t>Methodology (13)</a:t>
            </a:r>
            <a:br>
              <a:rPr lang="en-US" sz="4000" b="1" dirty="0">
                <a:latin typeface="Arial"/>
                <a:cs typeface="Arial"/>
              </a:rPr>
            </a:br>
            <a:r>
              <a:rPr lang="en-US" sz="4000" b="1" dirty="0">
                <a:latin typeface="Arial"/>
                <a:cs typeface="Arial"/>
              </a:rPr>
              <a:t>Exploration Strategy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D9FDA-7FA4-EE3F-5C20-C53F34F61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559" y="2116477"/>
            <a:ext cx="10535920" cy="36678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800" dirty="0" err="1">
                <a:latin typeface="Arial"/>
                <a:cs typeface="Arial"/>
              </a:rPr>
              <a:t>ε</a:t>
            </a:r>
            <a:r>
              <a:rPr lang="en-US" sz="2800" dirty="0">
                <a:latin typeface="Arial"/>
                <a:cs typeface="Arial"/>
              </a:rPr>
              <a:t>-greedy strategy enables initial exploration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>
                <a:latin typeface="Arial"/>
                <a:cs typeface="Arial"/>
              </a:rPr>
              <a:t>Exploration gradually reduces during learning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>
                <a:latin typeface="Arial"/>
                <a:cs typeface="Arial"/>
              </a:rPr>
              <a:t>Model adapts to environmental change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>
                <a:latin typeface="Arial"/>
                <a:cs typeface="Arial"/>
              </a:rPr>
              <a:t>Training converges at stable maximum RSSI</a:t>
            </a:r>
            <a:r>
              <a:rPr lang="en-US" sz="2800" dirty="0">
                <a:latin typeface="Arial"/>
                <a:ea typeface="Calibri"/>
                <a:cs typeface="Calibri"/>
              </a:rPr>
              <a:t> </a:t>
            </a:r>
          </a:p>
          <a:p>
            <a:pPr algn="just"/>
            <a:endParaRPr lang="en-US" sz="24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ECC98-AC69-2D31-D4E4-B6623A3F2221}"/>
              </a:ext>
            </a:extLst>
          </p:cNvPr>
          <p:cNvSpPr txBox="1"/>
          <p:nvPr/>
        </p:nvSpPr>
        <p:spPr>
          <a:xfrm>
            <a:off x="832841" y="3500407"/>
            <a:ext cx="710300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800">
                <a:latin typeface="Arial"/>
                <a:cs typeface="Arial"/>
              </a:rPr>
              <a:t> 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71026-14CE-742D-0C1F-D775C7A1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33A7F-7C15-7442-81D1-D85A585E7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38CFC-F9F6-1F49-A2C8-98183883B1DE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079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E8B5C-C0D8-435E-47F2-E120B272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Methodology (14)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Experimental Setup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D9FDA-7FA4-EE3F-5C20-C53F34F61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880" y="1972638"/>
            <a:ext cx="10535920" cy="35034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Indoor lab/corridor for multipath testing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Outdoor line-of-sight environment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Random initial antenna misalignment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Repeated trials (N ≥ 20) for reliability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71026-14CE-742D-0C1F-D775C7A1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833E6-C1C2-B949-8FD3-253D52F3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BBAB-B939-674D-B86F-0F14A409C7FC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798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E8B5C-C0D8-435E-47F2-E120B272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Methodology (15)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Evaluation Metrics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4D9FDA-7FA4-EE3F-5C20-C53F34F616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7880" y="2116477"/>
                <a:ext cx="10535920" cy="3667874"/>
              </a:xfrm>
            </p:spPr>
            <p:txBody>
              <a:bodyPr vert="horz" lIns="91440" tIns="45720" rIns="91440" bIns="45720" rtlCol="0" anchor="ctr"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RSSI (primary signal strength)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Alignment Accuracy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𝑎𝑐𝑐</m:t>
                        </m:r>
                      </m:sub>
                    </m:sSub>
                  </m:oMath>
                </a14:m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​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Convergence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𝑐𝑜𝑛𝑣</m:t>
                        </m:r>
                      </m:sub>
                    </m:sSub>
                  </m:oMath>
                </a14:m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​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Link Stability (variance of RSSI)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Mechanical Efficiency (motion count &amp; active time)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4D9FDA-7FA4-EE3F-5C20-C53F34F616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7880" y="2116477"/>
                <a:ext cx="10535920" cy="3667874"/>
              </a:xfrm>
              <a:blipFill>
                <a:blip r:embed="rId2"/>
                <a:stretch>
                  <a:fillRect l="-963" b="-2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30ECC98-AC69-2D31-D4E4-B6623A3F2221}"/>
              </a:ext>
            </a:extLst>
          </p:cNvPr>
          <p:cNvSpPr txBox="1"/>
          <p:nvPr/>
        </p:nvSpPr>
        <p:spPr>
          <a:xfrm>
            <a:off x="1438382" y="2262687"/>
            <a:ext cx="7915297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800">
                <a:latin typeface="Arial"/>
                <a:cs typeface="Arial"/>
              </a:rPr>
              <a:t> 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71026-14CE-742D-0C1F-D775C7A1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AF3F6-F62F-774F-8209-7872CA4CB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A9CC5-9F8A-9543-BB00-31DBD790B35D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969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C5BB-C014-232A-B482-AA0B786D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/>
                <a:cs typeface="Arial"/>
              </a:rPr>
              <a:t>Expected Outcomes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A92CC-68D2-3525-0783-F404ECCF5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5487"/>
            <a:ext cx="10515600" cy="43513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/>
                <a:cs typeface="Arial"/>
              </a:rPr>
              <a:t>Functional Autonomous Alignment Prototype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>
                <a:latin typeface="Arial"/>
                <a:cs typeface="Arial"/>
              </a:rPr>
              <a:t>Improved Alignment Performance Compared to Baseline Methods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/>
                <a:cs typeface="Arial"/>
              </a:rPr>
              <a:t>Feasibility of RL on Resource Constrained Hardware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/>
                <a:cs typeface="Arial"/>
              </a:rPr>
              <a:t>Quantitative Performance Evaluation and Analysis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/>
                <a:cs typeface="Arial"/>
              </a:rPr>
              <a:t>Validated, Low-Cost, and Replicable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284A7-093D-EF6E-2392-71CF1C6F8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5984C-354D-8E43-922F-1DD15F97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CAFD-8A09-CB42-B924-E3D01FDA249A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047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3BC3-AE2B-7646-9D27-14A9928F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/>
                <a:cs typeface="Arial"/>
              </a:rPr>
              <a:t>Expected Outcomes (2)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841DF5-8144-554D-926D-47C1B343A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b="6637"/>
          <a:stretch/>
        </p:blipFill>
        <p:spPr>
          <a:xfrm>
            <a:off x="2118291" y="1690688"/>
            <a:ext cx="7863909" cy="40008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B55A9-6A2A-FE40-8CA2-32652D512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B3E5-F951-554B-B860-A9CA487C5413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D3BCA-6F20-354E-BCA2-38BB1812F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76D3A-64A8-164D-AA55-F41B01AEFEE2}"/>
              </a:ext>
            </a:extLst>
          </p:cNvPr>
          <p:cNvSpPr txBox="1"/>
          <p:nvPr/>
        </p:nvSpPr>
        <p:spPr>
          <a:xfrm>
            <a:off x="3483575" y="5839253"/>
            <a:ext cx="5224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Figure: Image Generated by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NanoBanana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570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0151F-2768-DFA2-FA79-91FB2177B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>
                <a:latin typeface="Arial"/>
                <a:cs typeface="Arial"/>
              </a:rPr>
              <a:t>Project Applications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4DCA8-05A6-78BE-BDB3-73CF8219A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9224"/>
            <a:ext cx="10515600" cy="42356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/>
                <a:ea typeface="+mn-lt"/>
                <a:cs typeface="+mn-lt"/>
              </a:rPr>
              <a:t>Improving reliability and range of fixed wireless links </a:t>
            </a:r>
            <a:endParaRPr lang="en-US" dirty="0">
              <a:latin typeface="Arial"/>
              <a:ea typeface="+mn-lt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Arial"/>
                <a:ea typeface="+mn-lt"/>
                <a:cs typeface="+mn-lt"/>
              </a:rPr>
              <a:t>Enhancing signal stability in IoT or sensor networks with directional antennas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Arial"/>
                <a:ea typeface="+mn-lt"/>
                <a:cs typeface="+mn-lt"/>
              </a:rPr>
              <a:t>Low cost point-to-point wireless communication systems where manual alignment is impractical</a:t>
            </a:r>
            <a:endParaRPr lang="en-US" dirty="0">
              <a:latin typeface="Arial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Arial"/>
                <a:ea typeface="+mn-lt"/>
                <a:cs typeface="+mn-lt"/>
              </a:rPr>
              <a:t>Educational and research platforms for exploring embedded RL in real-time RF control</a:t>
            </a:r>
            <a:endParaRPr lang="en-US" dirty="0">
              <a:latin typeface="Arial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656349-072D-BAFC-A526-6E8263228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86797-97D0-944B-9061-76B9C3763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9454-2576-9E4E-996E-6AD97C6DDBD9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798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163A-80A5-E5E8-A8A7-B42B6AC04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>
                <a:latin typeface="Arial"/>
                <a:cs typeface="Arial"/>
              </a:rPr>
              <a:t>Project Timeline [Gantt Chart]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6192C44-FD3B-BDBB-DE93-9DCA9164B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8425" y="1690688"/>
            <a:ext cx="7219950" cy="417195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4119E5-8B87-3190-5BFA-29BE2FB58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E9C53-154B-0D45-A6C6-3E5CCEC8A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6269-5D25-5641-902D-848708251D7B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139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1B4E5-37C6-6D6D-0451-61F2BD4B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/>
                <a:ea typeface="Calibri Light"/>
                <a:cs typeface="Calibri Light"/>
              </a:rPr>
              <a:t>Budget Estimation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55B8895-653D-D48A-00FB-B9B451B49F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2898610"/>
              </p:ext>
            </p:extLst>
          </p:nvPr>
        </p:nvGraphicFramePr>
        <p:xfrm>
          <a:off x="2228850" y="1714500"/>
          <a:ext cx="7420008" cy="4424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26401">
                  <a:extLst>
                    <a:ext uri="{9D8B030D-6E8A-4147-A177-3AD203B41FA5}">
                      <a16:colId xmlns:a16="http://schemas.microsoft.com/office/drawing/2014/main" val="3990822403"/>
                    </a:ext>
                  </a:extLst>
                </a:gridCol>
                <a:gridCol w="1531713">
                  <a:extLst>
                    <a:ext uri="{9D8B030D-6E8A-4147-A177-3AD203B41FA5}">
                      <a16:colId xmlns:a16="http://schemas.microsoft.com/office/drawing/2014/main" val="1767017380"/>
                    </a:ext>
                  </a:extLst>
                </a:gridCol>
                <a:gridCol w="2561894">
                  <a:extLst>
                    <a:ext uri="{9D8B030D-6E8A-4147-A177-3AD203B41FA5}">
                      <a16:colId xmlns:a16="http://schemas.microsoft.com/office/drawing/2014/main" val="3765822049"/>
                    </a:ext>
                  </a:extLst>
                </a:gridCol>
              </a:tblGrid>
              <a:tr h="3182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Item</a:t>
                      </a:r>
                      <a:endParaRPr lang="en-US" sz="1400" b="1">
                        <a:effectLst/>
                        <a:latin typeface="Arial"/>
                      </a:endParaRPr>
                    </a:p>
                  </a:txBody>
                  <a:tcPr marL="63500" marR="63500" marT="63500" marB="635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Quantity</a:t>
                      </a:r>
                      <a:endParaRPr lang="en-US" sz="1400" b="1">
                        <a:effectLst/>
                        <a:latin typeface="Arial"/>
                      </a:endParaRPr>
                    </a:p>
                  </a:txBody>
                  <a:tcPr marL="63500" marR="63500" marT="63500" marB="635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Estimated Cost (NRs.)</a:t>
                      </a:r>
                      <a:endParaRPr lang="en-US" sz="1400" b="1">
                        <a:effectLst/>
                        <a:latin typeface="Arial"/>
                      </a:endParaRPr>
                    </a:p>
                  </a:txBody>
                  <a:tcPr marL="63500" marR="63500" marT="63500" marB="635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660690"/>
                  </a:ext>
                </a:extLst>
              </a:tr>
              <a:tr h="318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Microcontroller ESP32 </a:t>
                      </a:r>
                      <a:r>
                        <a:rPr lang="en-US" sz="1400" b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DevKit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2400 - 3500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72679"/>
                  </a:ext>
                </a:extLst>
              </a:tr>
              <a:tr h="318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NEMA 17 Stepper Motor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1,500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705142"/>
                  </a:ext>
                </a:extLst>
              </a:tr>
              <a:tr h="318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A4988 Motor Driver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350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336147"/>
                  </a:ext>
                </a:extLst>
              </a:tr>
              <a:tr h="318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100uF Capacitor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879392"/>
                  </a:ext>
                </a:extLst>
              </a:tr>
              <a:tr h="318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18650 Li-Ion Battery (High Drain)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1500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186481"/>
                  </a:ext>
                </a:extLst>
              </a:tr>
              <a:tr h="318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3S 18650 Battery Holder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150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279633"/>
                  </a:ext>
                </a:extLst>
              </a:tr>
              <a:tr h="318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3S 20A BMS Board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350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642823"/>
                  </a:ext>
                </a:extLst>
              </a:tr>
              <a:tr h="318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LM2596 Buck Converter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600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23309"/>
                  </a:ext>
                </a:extLst>
              </a:tr>
              <a:tr h="318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2.4GHz Yagi Antenna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700 - 2,500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236698"/>
                  </a:ext>
                </a:extLst>
              </a:tr>
              <a:tr h="318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Pigtail Cable (SMA)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400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843672"/>
                  </a:ext>
                </a:extLst>
              </a:tr>
              <a:tr h="318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Logistics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1000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832114"/>
                  </a:ext>
                </a:extLst>
              </a:tr>
              <a:tr h="318248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Total Estimated Cost</a:t>
                      </a:r>
                      <a:endParaRPr lang="en-US" sz="1400" b="1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9000 – 12000 (approx.)</a:t>
                      </a:r>
                      <a:endParaRPr lang="en-US" sz="1400" b="0">
                        <a:effectLst/>
                        <a:latin typeface="Arial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8785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E56EC3-D24B-57A3-AB38-F37EBC76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3C19-E94A-6C43-B563-628E3B2B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59988-8243-3D4E-BEB8-83A83117D6E4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345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8E73-0A89-3A07-44A7-F70F6A6D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577"/>
            <a:ext cx="10515600" cy="1775012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latin typeface="Arial"/>
                <a:cs typeface="Arial"/>
              </a:rPr>
              <a:t>References I</a:t>
            </a:r>
            <a:endParaRPr lang="en-US" sz="4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64153-85D4-17D6-2CF6-C69877167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9738"/>
            <a:ext cx="10515600" cy="464978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2400" dirty="0">
                <a:latin typeface="Arial"/>
                <a:cs typeface="Arial"/>
              </a:rPr>
              <a:t>[1] C. Beard and W. Stallings, Wireless Communication Networks and   Systems. Pearson, 2016.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2400" dirty="0">
                <a:latin typeface="Arial"/>
                <a:cs typeface="Arial"/>
              </a:rPr>
              <a:t>[2] S. Ahmed et al., “Comparative analysis of machine learning algorithms for antenna alignments,” IEEE Access, 2021.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2400" dirty="0">
                <a:latin typeface="Arial"/>
                <a:cs typeface="Arial"/>
              </a:rPr>
              <a:t>[3] A. T. Koru, J. Chang, and Y. Wan, “RSSI-based distributed control to align directional antenna pairs for UAV communication,” IEEE/ASME Transactions on Mechatronics, 2024.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2400" dirty="0">
                <a:latin typeface="Arial"/>
                <a:cs typeface="Arial"/>
              </a:rPr>
              <a:t>[4] Y. Wan et al., “Received signal strength indicator-based decentralized control for robust long-range aerial networking using directional antennas,” IEEE Transactions on Aerospace and Electronic Systems, 2018.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7C96E-10A2-2DF9-9944-62D370F7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1A559-BF85-DD4E-A565-5C9F3C3B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D282B-D444-4F4B-9CBF-64F27046A937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650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025F6-9CDA-9966-47D1-8B5DDF40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>
                <a:latin typeface="Arial"/>
                <a:cs typeface="Arial"/>
              </a:rPr>
              <a:t>References II</a:t>
            </a:r>
            <a:endParaRPr lang="en-US" sz="4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D1298-20DF-F089-3A09-570974901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513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2200" dirty="0">
                <a:latin typeface="Arial"/>
                <a:cs typeface="Arial"/>
              </a:rPr>
              <a:t>[5] J. W. Smith et al., “</a:t>
            </a:r>
            <a:r>
              <a:rPr lang="en-US" sz="2200" dirty="0" err="1">
                <a:latin typeface="Arial"/>
                <a:cs typeface="Arial"/>
              </a:rPr>
              <a:t>SmartAntenna</a:t>
            </a:r>
            <a:r>
              <a:rPr lang="en-US" sz="2200" dirty="0">
                <a:latin typeface="Arial"/>
                <a:cs typeface="Arial"/>
              </a:rPr>
              <a:t>: Enhancing wireless range with autonomous orientation,” International Journal of Distributed Sensor Networks, 2019.</a:t>
            </a:r>
            <a:endParaRPr lang="en-US" sz="2200" dirty="0">
              <a:latin typeface="Arial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2200" dirty="0">
                <a:latin typeface="Arial"/>
                <a:cs typeface="Arial"/>
              </a:rPr>
              <a:t>[6] Á. L. Makara, B. T. Csathó, A. Rácz, T. Borsos, L. Csurgai-Horváth, and B. P. Horváth, “Deep-Learning-Based Antenna Alignment Prediction for Mobile Indoor Communication,” Sensors, vol. 23, no. 7, p. 3375, 2023, </a:t>
            </a:r>
            <a:r>
              <a:rPr lang="en-US" sz="2200" dirty="0" err="1">
                <a:latin typeface="Arial"/>
                <a:cs typeface="Arial"/>
              </a:rPr>
              <a:t>doi</a:t>
            </a:r>
            <a:r>
              <a:rPr lang="en-US" sz="2200" dirty="0">
                <a:latin typeface="Arial"/>
                <a:cs typeface="Arial"/>
              </a:rPr>
              <a:t>: 10.3390/s23073375.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2200" dirty="0">
                <a:latin typeface="Arial"/>
                <a:cs typeface="Arial"/>
              </a:rPr>
              <a:t>[7] R. S. Sutton and A. G. Barto, Reinforcement Learning: An Introduction, 2nd ed. Cambridge, MA, USA: MIT Press, 2018. ISBN 978-0262039246.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D4BFD8-BEF7-E593-9C1E-82D1C615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B531-3086-46AA-98B5-838EFC325BE6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415DF-C29C-2947-825A-F5EFBE35F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5EBE-5490-3941-9F6F-FE69659A59F4}" type="datetime3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December, 2025</a:t>
            </a:fld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188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930</Words>
  <Application>Microsoft Macintosh PowerPoint</Application>
  <PresentationFormat>Widescreen</PresentationFormat>
  <Paragraphs>239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 </vt:lpstr>
      <vt:lpstr>Arial,Sans-Serif</vt:lpstr>
      <vt:lpstr>Calibri</vt:lpstr>
      <vt:lpstr>Calibri Light</vt:lpstr>
      <vt:lpstr>Cambria Math</vt:lpstr>
      <vt:lpstr>Office Theme</vt:lpstr>
      <vt:lpstr> REAL-TIME DIRECTIONAL ANTENNA ALIGNMENT USING  REINFORCEMENT LEARNING AND RSSI FEEDBACK  Atul Tiwari           (THA079BEI006) Bibek Joshi         (THA079BEI007) Inisha Maharjan  (THA079BEI012) Suprim Koirala    (THA079BEI043)  Supervisor: Er. Saroj Shakya  Department of Electronics and Computer Engineering Institute of Engineering, Thapathali Campus   December 28, 2025</vt:lpstr>
      <vt:lpstr>Presentation Outline</vt:lpstr>
      <vt:lpstr>Motivation</vt:lpstr>
      <vt:lpstr>Introduction</vt:lpstr>
      <vt:lpstr>Objectives</vt:lpstr>
      <vt:lpstr>Scope of Project</vt:lpstr>
      <vt:lpstr>Methodology (1) System Block Diagram</vt:lpstr>
      <vt:lpstr>Methodology (2) Hardware Implementation</vt:lpstr>
      <vt:lpstr>Methodology (3) Source and Receiver Configuration</vt:lpstr>
      <vt:lpstr>Methodology (4) Software Implementation</vt:lpstr>
      <vt:lpstr>Methodology (5) Flow Diagram</vt:lpstr>
      <vt:lpstr>Methodology (6) Baseline Methods</vt:lpstr>
      <vt:lpstr>Methodology (7) Reinforcement Learning Overview</vt:lpstr>
      <vt:lpstr>Methodology (8) RL Model Design </vt:lpstr>
      <vt:lpstr>Methodology (9) RL Experience Collection and State Preparation Pipeline</vt:lpstr>
      <vt:lpstr>Methodology (10)  Working Principle</vt:lpstr>
      <vt:lpstr>Methodology (11) Reinforcement Learning Framework</vt:lpstr>
      <vt:lpstr>Methodology (12) Algorithm in Action</vt:lpstr>
      <vt:lpstr>Methodology (13) Exploration Strategy</vt:lpstr>
      <vt:lpstr>Methodology (14) Experimental Setup</vt:lpstr>
      <vt:lpstr>Methodology (15) Evaluation Metrics</vt:lpstr>
      <vt:lpstr>Expected Outcomes (1)</vt:lpstr>
      <vt:lpstr>Expected Outcomes (2)</vt:lpstr>
      <vt:lpstr>Project Applications</vt:lpstr>
      <vt:lpstr>Project Timeline [Gantt Chart]</vt:lpstr>
      <vt:lpstr>Budget Estimation</vt:lpstr>
      <vt:lpstr>References I</vt:lpstr>
      <vt:lpstr>References 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REAL-TIME DIRECTIONAL ANTENNA ALIGNMENT USING  REINFORCEMENT LEARNING AND RSSI FEEDBACK  Atul Tiwari           (THA079BEI006) Bibek Joshi         (THA079BEI007) Inisha Maharjan  (THA079BEI012) Suprim Koirala    (THA079BEI043)  Supervisor: Er. Saroj Shakya  Department of Electronics and Computer Engineering Institute of Engineering, Thapathali Campus   December 28, 2025</dc:title>
  <dc:creator>Inisha Maharjan</dc:creator>
  <cp:lastModifiedBy>Microsoft Office User</cp:lastModifiedBy>
  <cp:revision>538</cp:revision>
  <cp:lastPrinted>2025-12-27T17:42:31Z</cp:lastPrinted>
  <dcterms:created xsi:type="dcterms:W3CDTF">2025-12-24T18:25:31Z</dcterms:created>
  <dcterms:modified xsi:type="dcterms:W3CDTF">2025-12-28T11:11:09Z</dcterms:modified>
</cp:coreProperties>
</file>